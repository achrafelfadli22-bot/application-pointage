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02920"/>
            <a:ext cx="658368" cy="658368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1206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07008" y="548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Pointage360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07008" y="8961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6AA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ET CHANTIERS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841248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1168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Pilotez le temps terrain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une precision SaaS.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38862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8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Pointage360 centralise pointages, timesheets, conges,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8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validations manager/RH et rapports paie dans une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8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multi-tenant sobre et controlee.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2011680"/>
            <a:ext cx="2011680" cy="384048"/>
          </a:xfrm>
          <a:prstGeom prst="rect">
            <a:avLst/>
          </a:prstGeom>
          <a:solidFill>
            <a:srgbClr val="1B3A5C"/>
          </a:solidFill>
          <a:ln w="6350">
            <a:solidFill>
              <a:srgbClr val="4A90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2011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AA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 •  BTP  •  Multi-tenant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Futura Expertise  —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defi quotidien des entreprises BTP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2743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87552"/>
            <a:ext cx="2743200" cy="73152"/>
          </a:xfrm>
          <a:prstGeom prst="rect">
            <a:avLst/>
          </a:prstGeom>
          <a:solidFill>
            <a:srgbClr val="C46A6A"/>
          </a:solidFill>
          <a:ln w="12700">
            <a:solidFill>
              <a:srgbClr val="C46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Pointage papier &amp; Excel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2423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manuelle chronophage, erreurs frequentes, impossibilite de suivi en temps reel. Les chefs de chantier perdent 3 a 5h par semaine.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987552"/>
            <a:ext cx="2743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87552"/>
            <a:ext cx="2743200" cy="73152"/>
          </a:xfrm>
          <a:prstGeom prst="rect">
            <a:avLst/>
          </a:prstGeom>
          <a:solidFill>
            <a:srgbClr val="D9B65E"/>
          </a:solidFill>
          <a:ln w="12700">
            <a:solidFill>
              <a:srgbClr val="D9B6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1155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Litiges &amp; erreurs de paie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29000" y="1627632"/>
            <a:ext cx="2423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contestees, absences mal enregistrees, calculs incorrects. Les conflits sociaux qui en decoulent impactent la productivite.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987552"/>
            <a:ext cx="2743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987552"/>
            <a:ext cx="2743200" cy="73152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1556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conformite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55080" y="1627632"/>
            <a:ext cx="2423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URSSAF et inspection du travail de plus en plus frequents. Prouver le respect du temps de travail devient une obligation.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4718304"/>
            <a:ext cx="8503920" cy="292608"/>
          </a:xfrm>
          <a:prstGeom prst="rect">
            <a:avLst/>
          </a:prstGeom>
          <a:solidFill>
            <a:srgbClr val="1B3A5C">
              <a:alpha val="12000"/>
            </a:srgbClr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36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PME du BTP passent en moyenne 3 a 5 heures par semaine sur des taches de pointage administratif.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94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AA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Pointage360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29768" y="2084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AA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ET CHANTIERS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2487168"/>
            <a:ext cx="749808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51460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A8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SaaS multi-tenant pour centraliser pointages,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A8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timesheets, conges et rapports paie — de la saisie terrain a la validation RH.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3566160"/>
            <a:ext cx="2011680" cy="1325880"/>
          </a:xfrm>
          <a:prstGeom prst="rect">
            <a:avLst/>
          </a:prstGeom>
          <a:solidFill>
            <a:srgbClr val="1B3A5C"/>
          </a:solidFill>
          <a:ln w="6350">
            <a:solidFill>
              <a:srgbClr val="6AAD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3566160"/>
            <a:ext cx="201168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1246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Pointage GPS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14223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A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Geofencing chantier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3566160"/>
            <a:ext cx="2011680" cy="1325880"/>
          </a:xfrm>
          <a:prstGeom prst="rect">
            <a:avLst/>
          </a:prstGeom>
          <a:solidFill>
            <a:srgbClr val="1B3A5C"/>
          </a:solidFill>
          <a:ln w="6350">
            <a:solidFill>
              <a:srgbClr val="6AAD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3566160"/>
            <a:ext cx="201168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371246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414223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A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complet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3566160"/>
            <a:ext cx="2011680" cy="1325880"/>
          </a:xfrm>
          <a:prstGeom prst="rect">
            <a:avLst/>
          </a:prstGeom>
          <a:solidFill>
            <a:srgbClr val="1B3A5C"/>
          </a:solidFill>
          <a:ln w="6350">
            <a:solidFill>
              <a:srgbClr val="6AAD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3566160"/>
            <a:ext cx="201168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71246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 &amp; absences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414223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A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Soldes temps reel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3566160"/>
            <a:ext cx="2011680" cy="1325880"/>
          </a:xfrm>
          <a:prstGeom prst="rect">
            <a:avLst/>
          </a:prstGeom>
          <a:solidFill>
            <a:srgbClr val="1B3A5C"/>
          </a:solidFill>
          <a:ln w="6350">
            <a:solidFill>
              <a:srgbClr val="6AAD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3566160"/>
            <a:ext cx="201168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371246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RH/Paie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414223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A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1 clic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Pointage GPS — Geofencing chantier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148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chantier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46120" y="1508760"/>
            <a:ext cx="822960" cy="256032"/>
          </a:xfrm>
          <a:prstGeom prst="rect">
            <a:avLst/>
          </a:prstGeom>
          <a:solidFill>
            <a:srgbClr val="E6F4EF"/>
          </a:solidFill>
          <a:ln w="6350">
            <a:solidFill>
              <a:srgbClr val="4A90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508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1170432" cy="777240"/>
          </a:xfrm>
          <a:prstGeom prst="rect">
            <a:avLst/>
          </a:prstGeom>
          <a:solidFill>
            <a:srgbClr val="F0F5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1168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801368" y="1965960"/>
            <a:ext cx="1170432" cy="777240"/>
          </a:xfrm>
          <a:prstGeom prst="rect">
            <a:avLst/>
          </a:prstGeom>
          <a:solidFill>
            <a:srgbClr val="F0F5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01368" y="201168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01368" y="2286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099816" y="1965960"/>
            <a:ext cx="1170432" cy="777240"/>
          </a:xfrm>
          <a:prstGeom prst="rect">
            <a:avLst/>
          </a:prstGeom>
          <a:solidFill>
            <a:srgbClr val="F0F5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9816" y="201168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99816" y="228600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02920" y="2926080"/>
            <a:ext cx="3749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090672"/>
            <a:ext cx="128016" cy="128016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2990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 Palmier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2004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 actif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0" y="3108960"/>
            <a:ext cx="1325880" cy="9144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3108960"/>
            <a:ext cx="994410" cy="9144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529584"/>
            <a:ext cx="3749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3694176"/>
            <a:ext cx="128016" cy="128016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593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Atlas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380390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 actif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0" y="3712464"/>
            <a:ext cx="1325880" cy="9144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0" y="3712464"/>
            <a:ext cx="596646" cy="9144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4133088"/>
            <a:ext cx="3749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4297680"/>
            <a:ext cx="128016" cy="128016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1970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Siege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" y="44074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0" y="4315968"/>
            <a:ext cx="1325880" cy="9144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0" y="4315968"/>
            <a:ext cx="1193292" cy="9144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1115568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1115568"/>
            <a:ext cx="54864" cy="82296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8032" y="1207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automatique de la presence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28032" y="15544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L'employe pointe via son smartphone. Le systeme verifie la presence dans le perimetre geofence du chantier (rayon configurable).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2057400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2057400"/>
            <a:ext cx="54864" cy="82296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2148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anomalies GPS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28032" y="24963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automatique si le pointage est effectue hors zone. Tracabilite complete pour les audits et controles.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63440" y="2999232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2999232"/>
            <a:ext cx="54864" cy="82296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3090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Check-out en 1 clic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828032" y="343814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Entree et sortie avec horodatage precis et coordonnees GPS archivees. Historique immuable.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63440" y="3941064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0" y="3941064"/>
            <a:ext cx="54864" cy="82296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28032" y="40325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validation manager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828032" y="437997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manager approuve ou rejette depuis son tableau de bord. Notification instantanee a l'employe.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Timesheets &amp; Workflow de validation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0116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01168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1207008"/>
            <a:ext cx="566928" cy="566928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1207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20848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 saisit ses heures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24048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tache et par chantier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50008" y="164592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96312" y="1097280"/>
            <a:ext cx="20116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96312" y="1097280"/>
            <a:ext cx="2011680" cy="64008"/>
          </a:xfrm>
          <a:prstGeom prst="rect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9544" y="1207008"/>
            <a:ext cx="566928" cy="566928"/>
          </a:xfrm>
          <a:prstGeom prst="ellipse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9544" y="1207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87752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87752" y="20848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valide les heures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587752" y="24048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Approuve ou rejette avec motif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26280" y="164592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72584" y="1097280"/>
            <a:ext cx="20116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72584" y="1097280"/>
            <a:ext cx="2011680" cy="640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85816" y="1207008"/>
            <a:ext cx="566928" cy="566928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85816" y="1207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64024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64024" y="20848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arbitre et consolide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64024" y="24048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Conges, conformite, corrections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02552" y="164592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48856" y="1097280"/>
            <a:ext cx="20116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48856" y="1097280"/>
            <a:ext cx="201168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62088" y="1207008"/>
            <a:ext cx="566928" cy="56692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62088" y="1207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40296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940296" y="20848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paie genere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940296" y="24048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Excel pret pour la paie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2852928"/>
            <a:ext cx="27432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2852928"/>
            <a:ext cx="54864" cy="210312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" y="29443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 BILLABLE / NON-BILLABLE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4632" y="3291840"/>
            <a:ext cx="25146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Distinguez les heures facturables clients des temps internes. Pilotez la rentabilite par chantier.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46120" y="2852928"/>
            <a:ext cx="27432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46120" y="2852928"/>
            <a:ext cx="54864" cy="210312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10712" y="29443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&amp; tracabilite complete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410712" y="3291840"/>
            <a:ext cx="25146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modification horodatee et archivee. Audit trail conforme pour les controles sociaux.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72200" y="2852928"/>
            <a:ext cx="27432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72200" y="2852928"/>
            <a:ext cx="54864" cy="210312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36792" y="29443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paie en 1 clic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336792" y="3291840"/>
            <a:ext cx="25146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Excel genere automatiquement, pret a integrer dans votre logiciel de paie.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conges &amp; absences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7432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configures par tenant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1208" y="1773936"/>
            <a:ext cx="146304" cy="146304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17373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 payes annuels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" y="2276856"/>
            <a:ext cx="146304" cy="146304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" y="22402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" y="2779776"/>
            <a:ext cx="146304" cy="146304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" y="27432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Maladie avec justificatif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" y="3282696"/>
            <a:ext cx="146304" cy="146304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" y="32461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 sans solde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1208" y="3785616"/>
            <a:ext cx="146304" cy="146304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" y="37490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Personnalisables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105156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051560"/>
            <a:ext cx="2743200" cy="64008"/>
          </a:xfrm>
          <a:prstGeom prst="rect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11704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Soldes en temps reel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47288" y="1773936"/>
            <a:ext cx="146304" cy="146304"/>
          </a:xfrm>
          <a:prstGeom prst="ellipse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66744" y="17373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disponibles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47288" y="2276856"/>
            <a:ext cx="146304" cy="146304"/>
          </a:xfrm>
          <a:prstGeom prst="ellipse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66744" y="22402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en attente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47288" y="2779776"/>
            <a:ext cx="146304" cy="146304"/>
          </a:xfrm>
          <a:prstGeom prst="ellipse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66744" y="27432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utilises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47288" y="3282696"/>
            <a:ext cx="146304" cy="146304"/>
          </a:xfrm>
          <a:prstGeom prst="ellipse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66744" y="32461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annuel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47288" y="3785616"/>
            <a:ext cx="146304" cy="146304"/>
          </a:xfrm>
          <a:prstGeom prst="ellipse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66744" y="37490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Demi-journees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2200" y="105156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1051560"/>
            <a:ext cx="2743200" cy="640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11704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d'approbation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73368" y="1773936"/>
            <a:ext cx="146304" cy="14630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92824" y="17373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en ligne + PJ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73368" y="2276856"/>
            <a:ext cx="146304" cy="14630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92824" y="22402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manager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73368" y="2779776"/>
            <a:ext cx="146304" cy="14630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92824" y="27432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Approbation 1 clic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73368" y="3282696"/>
            <a:ext cx="146304" cy="14630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92824" y="32461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 notifie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73368" y="3785616"/>
            <a:ext cx="146304" cy="14630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92824" y="37490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Archivage automatique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tableau de bord par profil et par chantier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25196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1755648" cy="749808"/>
          </a:xfrm>
          <a:prstGeom prst="rect">
            <a:avLst/>
          </a:prstGeom>
          <a:solidFill>
            <a:srgbClr val="F0F5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00200"/>
            <a:ext cx="1755648" cy="54864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9164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76072" y="211226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Chantiers actifs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23160" y="1600200"/>
            <a:ext cx="1755648" cy="749808"/>
          </a:xfrm>
          <a:prstGeom prst="rect">
            <a:avLst/>
          </a:prstGeom>
          <a:solidFill>
            <a:srgbClr val="F0F5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600200"/>
            <a:ext cx="1755648" cy="54864"/>
          </a:xfrm>
          <a:prstGeom prst="rect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69164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96312" y="211226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Employes pointes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487168"/>
            <a:ext cx="1755648" cy="749808"/>
          </a:xfrm>
          <a:prstGeom prst="rect">
            <a:avLst/>
          </a:prstGeom>
          <a:solidFill>
            <a:srgbClr val="F0F5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487168"/>
            <a:ext cx="1755648" cy="5486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57860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76072" y="2999232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presence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23160" y="2487168"/>
            <a:ext cx="1755648" cy="749808"/>
          </a:xfrm>
          <a:prstGeom prst="rect">
            <a:avLst/>
          </a:prstGeom>
          <a:solidFill>
            <a:srgbClr val="F0F5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23160" y="2487168"/>
            <a:ext cx="1755648" cy="54864"/>
          </a:xfrm>
          <a:prstGeom prst="rect">
            <a:avLst/>
          </a:prstGeom>
          <a:solidFill>
            <a:srgbClr val="D9B65E"/>
          </a:solidFill>
          <a:ln w="12700">
            <a:solidFill>
              <a:srgbClr val="D9B6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2578608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496312" y="2999232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 en attente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33649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par chantier — semaine en cours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365760" cy="41148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" y="3593592"/>
            <a:ext cx="365760" cy="65836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54480" y="3977640"/>
            <a:ext cx="365760" cy="27432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57400" y="3721608"/>
            <a:ext cx="365760" cy="530352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0" y="3886200"/>
            <a:ext cx="365760" cy="36576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63240" y="3520440"/>
            <a:ext cx="365760" cy="73152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66160" y="3904488"/>
            <a:ext cx="365760" cy="347472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4251960"/>
            <a:ext cx="3840480" cy="182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105156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1051560"/>
            <a:ext cx="54864" cy="86868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65192" y="1143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presence en temps reel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65192" y="1490472"/>
            <a:ext cx="3794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Visualisez qui est present sur chaque chantier. Alertes instantanees sur les retards et anomalies GPS.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0600" y="2039112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2039112"/>
            <a:ext cx="54864" cy="86868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65192" y="213055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Multi-chantiers &amp; multi-equipes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65192" y="2478024"/>
            <a:ext cx="3794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Gerez des dizaines de chantiers depuis un seul ecran. Affectations croisees d'employes.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00600" y="3026664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3026664"/>
            <a:ext cx="54864" cy="86868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311810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par role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65192" y="3465576"/>
            <a:ext cx="3794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Employe, manager, RH et admin voient chacun les actions utiles a leur perimetre de responsabilite.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00600" y="4014216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00600" y="4014216"/>
            <a:ext cx="54864" cy="86868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65192" y="410565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automatiques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965192" y="4453128"/>
            <a:ext cx="3794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timesheets, alertes GPS, conges en attente : chaque acteur est informe au bon moment.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Pointage360 vous apporte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8778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A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resultats mesurables des les premieres semaines d'utilisation.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1463040"/>
          </a:xfrm>
          <a:prstGeom prst="rect">
            <a:avLst/>
          </a:prstGeom>
          <a:solidFill>
            <a:srgbClr val="1B3A5C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554480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-80%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29768" y="2368296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administratif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72968" y="1417320"/>
            <a:ext cx="2697480" cy="1463040"/>
          </a:xfrm>
          <a:prstGeom prst="rect">
            <a:avLst/>
          </a:prstGeom>
          <a:solidFill>
            <a:srgbClr val="1B3A5C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72968" y="1554480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82696" y="2368296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de saisie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896" y="1417320"/>
            <a:ext cx="2697480" cy="1463040"/>
          </a:xfrm>
          <a:prstGeom prst="rect">
            <a:avLst/>
          </a:prstGeom>
          <a:solidFill>
            <a:srgbClr val="1B3A5C"/>
          </a:solidFill>
          <a:ln w="12700">
            <a:solidFill>
              <a:srgbClr val="D9B6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25896" y="1554480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135624" y="2368296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equipes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44952"/>
            <a:ext cx="2697480" cy="1463040"/>
          </a:xfrm>
          <a:prstGeom prst="rect">
            <a:avLst/>
          </a:prstGeom>
          <a:solidFill>
            <a:srgbClr val="1B3A5C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182112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29768" y="3995928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temps de travail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72968" y="3044952"/>
            <a:ext cx="2697480" cy="1463040"/>
          </a:xfrm>
          <a:prstGeom prst="rect">
            <a:avLst/>
          </a:prstGeom>
          <a:solidFill>
            <a:srgbClr val="1B3A5C"/>
          </a:solidFill>
          <a:ln w="12700">
            <a:solidFill>
              <a:srgbClr val="6AAD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72968" y="3182112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5min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3282696" y="3995928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pointer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valider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25896" y="3044952"/>
            <a:ext cx="2697480" cy="1463040"/>
          </a:xfrm>
          <a:prstGeom prst="rect">
            <a:avLst/>
          </a:prstGeom>
          <a:solidFill>
            <a:srgbClr val="1B3A5C"/>
          </a:solidFill>
          <a:ln w="12700">
            <a:solidFill>
              <a:srgbClr val="6AAD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25896" y="3182112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clic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135624" y="3995928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paie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 pour le RH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 &amp; confidentialite des donnees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6052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7043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3977640" cy="384048"/>
          </a:xfrm>
          <a:prstGeom prst="rect">
            <a:avLst/>
          </a:prstGeom>
          <a:solidFill>
            <a:srgbClr val="F0F5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007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737360" y="17007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+ TypeScript strict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075688"/>
            <a:ext cx="3977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488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Prisma ORM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523744"/>
            <a:ext cx="3977640" cy="384048"/>
          </a:xfrm>
          <a:prstGeom prst="rect">
            <a:avLst/>
          </a:prstGeom>
          <a:solidFill>
            <a:srgbClr val="F0F5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96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37360" y="25968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 + refresh, bcrypt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971800"/>
            <a:ext cx="3977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449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d'att.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737360" y="30449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BullMQ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419856"/>
            <a:ext cx="3977640" cy="384048"/>
          </a:xfrm>
          <a:prstGeom prst="rect">
            <a:avLst/>
          </a:prstGeom>
          <a:solidFill>
            <a:srgbClr val="F0F5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930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37360" y="34930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(S3-compatible)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867912"/>
            <a:ext cx="3977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4106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737360" y="39410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+ Tailwind CSS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4315968"/>
            <a:ext cx="3977640" cy="384048"/>
          </a:xfrm>
          <a:prstGeom prst="rect">
            <a:avLst/>
          </a:prstGeom>
          <a:solidFill>
            <a:srgbClr val="F0F5FA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3891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737360" y="43891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workspaces + Turborepo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105156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1051560"/>
            <a:ext cx="54864" cy="86868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11430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multi-tenant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73752" y="1490472"/>
            <a:ext cx="3886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entreprise dispose d'un espace completement isole. Aucune donnee partagee entre clients. Garanti par TenantGuard.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2039112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039112"/>
            <a:ext cx="54864" cy="86868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21305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5 niveaux de droits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73752" y="2478024"/>
            <a:ext cx="3886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Admin, Admin tenant, RH, Manager, Employe : chacun accede uniquement a son perimetre de responsabilite.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3026664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026664"/>
            <a:ext cx="54864" cy="86868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311810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complet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73752" y="3465576"/>
            <a:ext cx="3886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action enregistree : horodatage, IP, user agent, metadata JSON. Traçabilite totale pour les audits sociaux.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9160" y="4014216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4014216"/>
            <a:ext cx="54864" cy="86868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410565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robuste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73752" y="4453128"/>
            <a:ext cx="3886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 + MinIO en production. Sauvegardes automatiques, haute disponibilite et reprise sur incident.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Operationnel en 3 etapes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724912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2724912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261872"/>
            <a:ext cx="713232" cy="713232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2618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moins d'une journee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889504"/>
            <a:ext cx="146304" cy="146304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85292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de l'espace entreprise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19272"/>
            <a:ext cx="146304" cy="146304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28269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chantiers et equipes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146304" cy="146304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371246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Parametrage roles et droits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78808"/>
            <a:ext cx="146304" cy="146304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414223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types de conges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63240" y="228600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172968" y="1078992"/>
            <a:ext cx="2724912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1078992"/>
            <a:ext cx="2724912" cy="64008"/>
          </a:xfrm>
          <a:prstGeom prst="rect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78808" y="1261872"/>
            <a:ext cx="713232" cy="713232"/>
          </a:xfrm>
          <a:prstGeom prst="ellipse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78808" y="12618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310128" y="208483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310128" y="24688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session de 2h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01568" y="2889504"/>
            <a:ext cx="146304" cy="146304"/>
          </a:xfrm>
          <a:prstGeom prst="ellipse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285292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RH et managers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01568" y="3319272"/>
            <a:ext cx="146304" cy="146304"/>
          </a:xfrm>
          <a:prstGeom prst="ellipse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328269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Tutoriels video employes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01568" y="3749040"/>
            <a:ext cx="146304" cy="146304"/>
          </a:xfrm>
          <a:prstGeom prst="ellipse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371246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intuitive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01568" y="4178808"/>
            <a:ext cx="146304" cy="146304"/>
          </a:xfrm>
          <a:prstGeom prst="ellipse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414223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dedie 30 jours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16168" y="228600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025896" y="1078992"/>
            <a:ext cx="2724912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D1B2A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25896" y="1078992"/>
            <a:ext cx="2724912" cy="640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31736" y="1261872"/>
            <a:ext cx="713232" cy="71323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31736" y="12618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163056" y="208483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163056" y="24688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Operationnel des J+1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54496" y="2889504"/>
            <a:ext cx="146304" cy="14630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64808" y="285292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Pointage GPS actif sur chantiers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54496" y="3319272"/>
            <a:ext cx="146304" cy="14630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64808" y="328269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temps reel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54496" y="3749040"/>
            <a:ext cx="146304" cy="14630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64808" y="371246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disponibles des J+1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54496" y="4178808"/>
            <a:ext cx="146304" cy="14630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64808" y="414223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 continu inclus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Pointage360 ?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8503920" cy="3913632"/>
        </p:xfrm>
        <a:graphic>
          <a:graphicData uri="http://schemas.openxmlformats.org/drawingml/2006/table">
            <a:tbl>
              <a:tblPr/>
              <a:tblGrid>
                <a:gridCol w="2834640"/>
                <a:gridCol w="1783080"/>
                <a:gridCol w="2011680"/>
                <a:gridCol w="1874520"/>
              </a:tblGrid>
              <a:tr h="4348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Fonctionnalite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/ Papier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Logiciel RH generique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Pointage360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348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Pointage GPS chantier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B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— natif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</a:tr>
              <a:tr h="4348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Geofencing &amp; alertes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B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</a:tr>
              <a:tr h="4348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Multi-chantiers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B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Illimite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</a:tr>
              <a:tr h="4348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approbation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B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</a:tr>
              <a:tr h="4348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des conges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B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 reel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</a:tr>
              <a:tr h="4348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paie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B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clic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</a:tr>
              <a:tr h="4348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 legal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B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</a:tr>
              <a:tr h="4348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A3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Mise en place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B6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3-6 mois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semaine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502920"/>
            <a:ext cx="8366760" cy="41605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77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Prets a digitaliser vos chantiers 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A8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Demandez votre demonstration gratuite et voyez Pointage360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A8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action sur vos propres chantiers.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880360"/>
            <a:ext cx="2743200" cy="65836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8803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Acceder a la plateforme  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03320" y="2880360"/>
            <a:ext cx="2286000" cy="658368"/>
          </a:xfrm>
          <a:prstGeom prst="rect">
            <a:avLst/>
          </a:prstGeom>
          <a:solidFill>
            <a:srgbClr val="1B3A5C"/>
          </a:solidFill>
          <a:ln w="10160">
            <a:solidFill>
              <a:srgbClr val="D0D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28803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la plateforme  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4224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futura.expert@gmail.com   |   www.pointage360.fr   |   Futura Expertise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Pointage360 — Presentation Commerciale</dc:title>
  <dc:subject>PptxGenJS Presentation</dc:subject>
  <dc:creator>Futura Expertise</dc:creator>
  <cp:lastModifiedBy>Futura Expertise</cp:lastModifiedBy>
  <cp:revision>1</cp:revision>
  <dcterms:created xsi:type="dcterms:W3CDTF">2026-05-28T19:15:46Z</dcterms:created>
  <dcterms:modified xsi:type="dcterms:W3CDTF">2026-05-28T19:15:46Z</dcterms:modified>
</cp:coreProperties>
</file>